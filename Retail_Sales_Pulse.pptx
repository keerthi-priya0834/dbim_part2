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66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3931920"/>
            <a:ext cx="3840480" cy="38404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 •  MUC01 CAPSTONE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Pulse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41248" y="3035808"/>
            <a:ext cx="1005840" cy="5486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Analysis to Pipeline Modules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03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7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(EDA)  &amp;  Data Engineering  &amp;  Enterprise Systems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5806440"/>
            <a:ext cx="1581912" cy="384048"/>
          </a:xfrm>
          <a:prstGeom prst="roundRect">
            <a:avLst>
              <a:gd name="adj" fmla="val 50000"/>
            </a:avLst>
          </a:prstGeom>
          <a:solidFill>
            <a:srgbClr val="3A4585"/>
          </a:solidFill>
          <a:ln w="12700">
            <a:solidFill>
              <a:srgbClr val="5160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" y="580644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5806440"/>
            <a:ext cx="1581912" cy="384048"/>
          </a:xfrm>
          <a:prstGeom prst="roundRect">
            <a:avLst>
              <a:gd name="adj" fmla="val 50000"/>
            </a:avLst>
          </a:prstGeom>
          <a:solidFill>
            <a:srgbClr val="3A4585"/>
          </a:solidFill>
          <a:ln w="12700">
            <a:solidFill>
              <a:srgbClr val="5160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606040" y="580644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EDA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9120" y="5806440"/>
            <a:ext cx="2016252" cy="384048"/>
          </a:xfrm>
          <a:prstGeom prst="roundRect">
            <a:avLst>
              <a:gd name="adj" fmla="val 50000"/>
            </a:avLst>
          </a:prstGeom>
          <a:solidFill>
            <a:srgbClr val="3A4585"/>
          </a:solidFill>
          <a:ln w="12700">
            <a:solidFill>
              <a:srgbClr val="5160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389120" y="5806440"/>
            <a:ext cx="20162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 Pipelines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06540" y="5806440"/>
            <a:ext cx="1668780" cy="384048"/>
          </a:xfrm>
          <a:prstGeom prst="roundRect">
            <a:avLst>
              <a:gd name="adj" fmla="val 50000"/>
            </a:avLst>
          </a:prstGeom>
          <a:solidFill>
            <a:srgbClr val="3A4585"/>
          </a:solidFill>
          <a:ln w="12700">
            <a:solidFill>
              <a:srgbClr val="5160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606540" y="5806440"/>
            <a:ext cx="1668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Keerthi Priya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&amp;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Dataset Tells 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transaction-level retail sales data (Jan–Jun 2026) across 12 stores in Andhra Pradesh, spanning 5 product categories — used to understand store performance, category trends, and unusual sales drops.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85800" y="2231136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107,836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443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4992" y="21031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502152" y="2231136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9443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across 6 cities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1344" y="21031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318504" y="2231136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318504" y="29443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97696" y="210312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9134856" y="2231136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9134856" y="294436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found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2578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04672" y="399592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 in the dataset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434840"/>
            <a:ext cx="474573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transaction_id, date, store_id, store_city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product_name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units_sold, unit_price, revenue, discount_pct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89320" y="3794760"/>
            <a:ext cx="5650992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245352" y="3995928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snapshot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4434840"/>
            <a:ext cx="513892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transaction: ₹4,264 (std. dev ₹14,243)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units sold per transaction: 2.6 units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applied: 7.2%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found in the dataset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46150" cy="29260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79476"/>
            <a:ext cx="7461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and Inspect the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04672" y="180136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checked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40280"/>
            <a:ext cx="488289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six-month retail transaction CSV (Jan–Jun 2026) into a DataFrame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shape, column names, and data types with .shape, .columns, and .dtypes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there were zero missing values across all 10 columns with .isnull().sum()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descriptive statistics with .describe() to understand the spread of units sold, price, and revenue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there were no duplicate transaction records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5513832" cy="4480560"/>
          </a:xfrm>
          <a:prstGeom prst="roundRect">
            <a:avLst>
              <a:gd name="adj" fmla="val 1633"/>
            </a:avLst>
          </a:prstGeom>
          <a:solidFill>
            <a:srgbClr val="FFF3EC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382512" y="180136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— Observations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82512" y="2240280"/>
            <a:ext cx="500176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clean, transaction-level sales data ready for analysis — no nulls, no duplicates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reveal high variability in revenue per transaction (std. dev. exceeds the mean), reflecting a wide product price range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were confirmed as suitable (numeric fields for units, price, revenue and discount) before further analysis began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4615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79476"/>
            <a:ext cx="7461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Store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6903720" cy="4617720"/>
          </a:xfrm>
          <a:prstGeom prst="roundRect">
            <a:avLst>
              <a:gd name="adj" fmla="val 1188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imgs/cell1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00200"/>
            <a:ext cx="6492240" cy="3877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07808" y="1444752"/>
            <a:ext cx="4032504" cy="4617720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86384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084832"/>
            <a:ext cx="352044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performers: Vijayawada (S01), Guntur (S03), and Tirupati (S07) generate the highest revenue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performers: Rajahmundry (S05), Nellore (S10), and Kakinada (S12) trail well behind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may signal weaker customer demand, pricing gaps, or local competition at underperforming stores — worth investigating further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4615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79476"/>
            <a:ext cx="7461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 Over Time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7178040" cy="4617720"/>
          </a:xfrm>
          <a:prstGeom prst="roundRect">
            <a:avLst>
              <a:gd name="adj" fmla="val 1188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imgs/cell2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27632"/>
            <a:ext cx="6720840" cy="4416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82128" y="1444752"/>
            <a:ext cx="3758184" cy="4617720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8138160" y="1645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084832"/>
            <a:ext cx="324612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shows the steepest month-over-month decline — possibly fewer buyers or high price points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revenue stays remarkably consistent, reflecting steady, non-discretionary customer demand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categories (Apparel, Home &amp; Kitchen, Personal Care) show comparatively stable trends across the six months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4615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79476"/>
            <a:ext cx="7461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Day-of-Week Revenue Patterns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7178040" cy="4617720"/>
          </a:xfrm>
          <a:prstGeom prst="roundRect">
            <a:avLst>
              <a:gd name="adj" fmla="val 1188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imgs/cell3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27632"/>
            <a:ext cx="6675120" cy="33592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82128" y="1444752"/>
            <a:ext cx="3758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8019288" y="1572768"/>
            <a:ext cx="3483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₹35.24L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019288" y="228600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 — Saturday (avg. revenue)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82128" y="2999232"/>
            <a:ext cx="3758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019288" y="3127248"/>
            <a:ext cx="3483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₹20.12L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8019288" y="384048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day — Monday (avg. revenue)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82128" y="4553712"/>
            <a:ext cx="37581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8138160" y="475488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consistently outperform weekdays — Saturday and Sunday lead average daily revenue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4615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79476"/>
            <a:ext cx="7461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Patterns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7178040" cy="4617720"/>
          </a:xfrm>
          <a:prstGeom prst="roundRect">
            <a:avLst>
              <a:gd name="adj" fmla="val 1188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imgs/cell34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91640"/>
            <a:ext cx="6675120" cy="43799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82128" y="1444752"/>
            <a:ext cx="3758184" cy="4617720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8138160" y="1645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084832"/>
            <a:ext cx="324612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was the strongest month (₹8.48 Cr); June the weakest (₹6.93 Cr) — a steady downward drift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the Monday dip, this suggests a flash promotion on Mondays during weaker months could help recover lost revenue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4615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79476"/>
            <a:ext cx="7461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Identification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store-week is flagged when revenue falls more than 2 standard deviations below that store's own average. All 12 stores were flagged for the week of Jun 29 – Jul 5.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7178040" cy="416052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Store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Revenue (₹)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Likely Reason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S01 — Vijayawada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2,73,682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Supply disruption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S02 — Vijayawada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3,06,102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Local event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S03 — Guntur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3,61,129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Pricing issue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S04 — Guntur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2,29,617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Competitor activity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S05 — Rajahmundry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1,87,376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Supply disruption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S06 — Rajahmundry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4,06,757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Local event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S07 — Tirupati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3,40,452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Pricing issue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S08 — Tirupati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2,61,530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Competitor activity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S09 — Nellore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1,87,629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Supply disruption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S10 — Nellore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1,15,629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Local event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S11 — Kakinada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2,98,689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Pricing issue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S12 — Kakinada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2,30,160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2B2B33"/>
                          </a:solidFill>
                        </a:rPr>
                        <a:t>Competitor activity</a:t>
                      </a:r>
                      <a:endParaRPr lang="en-US" sz="108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938528"/>
            <a:ext cx="3730752" cy="41605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8165592" y="2139696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6" name="Text 6"/>
          <p:cNvSpPr txBox="1"/>
          <p:nvPr/>
        </p:nvSpPr>
        <p:spPr>
          <a:xfrm>
            <a:off x="8165592" y="2578608"/>
            <a:ext cx="3218688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 — not just a few — was flagged in the same trailing week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week (Jun 29–Jul 5) only overlaps the dataset through June 30, so it's a partial week with fewer transactions than a full one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looks like an edge effect of weekly bucketing at the data boundary rather than genuine anomalies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pipeline should exclude incomplete trailing periods from anomaly comparisons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029200" cy="502920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746150" cy="292608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452628"/>
            <a:ext cx="7461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5.6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323C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0574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the Monday dip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441448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delivers the highest average daily revenue; Monday the lowest at ~₹20.21 lakh. Running flash promotions on Mondays can lift the weakest day.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323C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14400" y="3730752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914400" y="3730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5935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Re-price Electronics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977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shows the steepest decline in sales — testing discounts or pricing adjustments could help recover lost demand.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46904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323C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14400" y="5266944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14400" y="52669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512978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more signal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5513832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data on customer demand, competitor pricing, and local events would sharpen and confirm the best course of action.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61120" y="3200400"/>
            <a:ext cx="5029200" cy="50292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the Pulse: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29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Validation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historical analysis to an automated weekly ingestion, validation, and reporting pipeline built on live API data.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96035" cy="29260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79476"/>
            <a:ext cx="11960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5.7 – 5.8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&amp; Ingesting the API Response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04672" y="1737360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 — JSON structure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76272"/>
            <a:ext cx="48828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level is a dictionary with keys: status, request_id, generated_at, period, record_count, data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transaction records live inside the "data" key as a list of records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= 2026-06-24 to 2026-06-30; record_count = 4,291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retail API would use this structure so consumers can validate metadata (period, count, status) before touching the transaction payload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536192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FFF3EC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382512" y="173736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— Ingest &amp; parse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82512" y="2176272"/>
            <a:ext cx="500176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the "data" list and loaded it into a pandas DataFrame; converted the date column to datetime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DataFrame row count (4,291) matches the JSON's record_count field exactly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record count: it confirms nothing was dropped in transit — a mismatch could mean incomplete data reached the pipeline, so it's checked before any reporting decision is made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46150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79476"/>
            <a:ext cx="7461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5.9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Data Before Processing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corrupted weekly file was run through a validation function checking for nulls, non-positive revenue, and invalid store IDs.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537960" cy="4251960"/>
          </a:xfrm>
          <a:prstGeom prst="roundRect">
            <a:avLst>
              <a:gd name="adj" fmla="val 1720"/>
            </a:avLst>
          </a:prstGeom>
          <a:solidFill>
            <a:srgbClr val="232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2029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SUMMARY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D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records checked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4,291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90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D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values found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990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(row 12, units_sold)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465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D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 revenue found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34655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(row 5, revenue: -150.0)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9410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D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store IDs found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39410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(row 20, store_id: S99)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462272"/>
            <a:ext cx="5897880" cy="0"/>
          </a:xfrm>
          <a:prstGeom prst="line">
            <a:avLst/>
          </a:prstGeom>
          <a:noFill/>
          <a:ln w="12700">
            <a:solidFill>
              <a:srgbClr val="5160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68680" y="4690872"/>
            <a:ext cx="5897880" cy="777240"/>
          </a:xfrm>
          <a:prstGeom prst="roundRect">
            <a:avLst>
              <a:gd name="adj" fmla="val 9412"/>
            </a:avLst>
          </a:prstGeom>
          <a:solidFill>
            <a:srgbClr val="7A1F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097280" y="47640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FAILED — 3 issues detected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halted before reaching downstream reporting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1828800"/>
            <a:ext cx="4325112" cy="4251960"/>
          </a:xfrm>
          <a:prstGeom prst="roundRect">
            <a:avLst>
              <a:gd name="adj" fmla="val 1720"/>
            </a:avLst>
          </a:prstGeom>
          <a:solidFill>
            <a:srgbClr val="FFF3EC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571232" y="2029968"/>
            <a:ext cx="3813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2468880"/>
            <a:ext cx="381304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production pipeline should stop completely when corrupt data is detected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invalid records risks producing incorrect business results and can hide data-quality problems that need investigation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 beats silently skipping or auto-fixing bad rows in a reporting context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1131" cy="29260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79476"/>
            <a:ext cx="82113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&amp; Aggregate the Weekly Feed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85800" y="163677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S03 — Guntur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50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store this week (₹20.38L)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343400" y="163677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S10 — Nellore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350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store this week (₹6.27L)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1508760"/>
            <a:ext cx="3776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001000" y="1636776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-34.2%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2350008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vs 6-month baseline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21488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This Week (₹)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6-Mo. Baseline (₹)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% Diff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Apparel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32,28,573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26,87,056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</a:rPr>
                        <a:t>+20.2%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Electronics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57,64,694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87,60,741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</a:rPr>
                        <a:t>-34.2%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Grocery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16,17,279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16,36,011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</a:rPr>
                        <a:t>-1.1%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Home &amp; Kitchen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28,47,057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31,65,304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</a:rPr>
                        <a:t>-10.1%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Personal Care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15,57,808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15,33,370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</a:rPr>
                        <a:t>+1.6%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alert triggered: Electronics revenue is more than 20% below its 6-month weekly baseline — flagged for review.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1131" cy="292608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2628"/>
            <a:ext cx="82113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2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5.11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Pipeline Summary Output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generate_weekly_summary() — a single function producing a ready-to-read business report from the raw JSON feed.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4160520"/>
          </a:xfrm>
          <a:prstGeom prst="roundRect">
            <a:avLst>
              <a:gd name="adj" fmla="val 1758"/>
            </a:avLst>
          </a:prstGeom>
          <a:solidFill>
            <a:srgbClr val="1B2148"/>
          </a:solidFill>
          <a:ln w="12700">
            <a:solidFill>
              <a:srgbClr val="3A4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143000" y="2286000"/>
            <a:ext cx="9875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RETAIL SALES PULSE — WEEKLY SUMMARY ===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Period: 2026-06-24 to 2026-06-30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 processed: 4,291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store this week: S03 — Guntur (₹20,37,560.19)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 store this week: S10 — Nellore (₹6,27,119.87)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alert: Electronics revenue down 34.20% vs 6-month baseline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9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alert: Apparel, Grocery, Home &amp; Kitchen, Personal Care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43000" y="5074920"/>
            <a:ext cx="3429000" cy="5486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143000" y="5074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STATUS: COMPLETED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Action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8470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 varies widely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2219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Vijayawada, Guntur &amp; Tirupati lead; Rajahmundry, Nellore &amp; Kakinada lag behind.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263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13448" y="18470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patterns are actionable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013448" y="22219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Saturdays and January outperform; Mondays and June lag — a clear promo window.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995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needs attention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3708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category decline, now 34% below its own 6-month baseline.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0233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263640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3995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production-ready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3708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JSON, validates data quality, fails safely, and reports automatically.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80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PULSE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1494</Words>
  <Application>Microsoft Office PowerPoint</Application>
  <PresentationFormat>Widescreen</PresentationFormat>
  <Paragraphs>260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Keerthi Priya</cp:lastModifiedBy>
  <cp:revision>2</cp:revision>
  <dcterms:created xsi:type="dcterms:W3CDTF">2026-09-05T13:33:22Z</dcterms:created>
  <dcterms:modified xsi:type="dcterms:W3CDTF">2026-09-05T13:37:08Z</dcterms:modified>
</cp:coreProperties>
</file>